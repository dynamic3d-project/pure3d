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1999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2000" dirty="0">
                <a:solidFill>
                  <a:srgbClr val="17324D"/>
                </a:solidFill>
                <a:latin typeface="Aptos"/>
              </a:rPr>
              <a:t/>
            </a:r>
            <a:endParaRPr lang="en-US" sz="2000"/>
          </a:p>
        </p:txBody>
      </p:sp>
      <p:sp>
        <p:nvSpPr>
          <p:cNvPr id="3" name="Title"/>
          <p:cNvSpPr txBox="1"/>
          <p:nvPr/>
        </p:nvSpPr>
        <p:spPr>
          <a:xfrm>
            <a:off x="502920" y="100584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/>
              </a:rPr>
              <a:t>Mini Feedback Session: 20-minute application test</a:t>
            </a:r>
            <a:endParaRPr lang="en-US" sz="2500"/>
          </a:p>
        </p:txBody>
      </p:sp>
      <p:sp>
        <p:nvSpPr>
          <p:cNvPr id="4" name="Brand"/>
          <p:cNvSpPr txBox="1"/>
          <p:nvPr/>
        </p:nvSpPr>
        <p:spPr>
          <a:xfrm>
            <a:off x="10012680" y="10972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 lIns="120000" rIns="120000" tIns="60000" bIns="60000"/>
          <a:lstStyle/>
          <a:p>
            <a:pPr algn="r">
              <a:buNone/>
            </a:pPr>
            <a:r>
              <a:rPr lang="en-US" sz="2100" b="1" dirty="0">
                <a:solidFill>
                  <a:srgbClr val="FFFFFF"/>
                </a:solidFill>
                <a:latin typeface="Aptos"/>
              </a:rPr>
              <a:t>PURE3D</a:t>
            </a:r>
            <a:endParaRPr lang="en-US" sz="2100"/>
          </a:p>
        </p:txBody>
      </p:sp>
      <p:sp>
        <p:nvSpPr>
          <p:cNvPr id="5" name="Subtitle"/>
          <p:cNvSpPr txBox="1"/>
          <p:nvPr/>
        </p:nvSpPr>
        <p:spPr>
          <a:xfrm>
            <a:off x="640080" y="82296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700" dirty="0">
                <a:solidFill>
                  <a:srgbClr val="5D6B7A"/>
                </a:solidFill>
                <a:latin typeface="Aptos"/>
              </a:rPr>
              <a:t>Goal: observe users completing key publishing tasks and capture friction while it is fresh.</a:t>
            </a:r>
            <a:endParaRPr lang="en-US" sz="1700"/>
          </a:p>
        </p:txBody>
      </p:sp>
      <p:sp>
        <p:nvSpPr>
          <p:cNvPr id="10" name="Time pill"/>
          <p:cNvSpPr/>
          <p:nvPr/>
        </p:nvSpPr>
        <p:spPr>
          <a:xfrm>
            <a:off x="640080" y="1508760"/>
            <a:ext cx="2212848" cy="411480"/>
          </a:xfrm>
          <a:prstGeom prst="roundRect">
            <a:avLst/>
          </a:prstGeom>
          <a:solidFill>
            <a:srgbClr val="1F8A89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450" b="1" dirty="0">
                <a:solidFill>
                  <a:srgbClr val="FFFFFF"/>
                </a:solidFill>
                <a:latin typeface="Aptos"/>
              </a:rPr>
              <a:t>0-3 min</a:t>
            </a:r>
            <a:endParaRPr lang="en-US" sz="1450"/>
          </a:p>
        </p:txBody>
      </p:sp>
      <p:sp>
        <p:nvSpPr>
          <p:cNvPr id="11" name="Task card"/>
          <p:cNvSpPr/>
          <p:nvPr/>
        </p:nvSpPr>
        <p:spPr>
          <a:xfrm>
            <a:off x="640080" y="1947672"/>
            <a:ext cx="2212848" cy="2743200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D8CDBB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Setup &amp; prompt</a:t>
            </a:r>
            <a:endParaRPr lang="en-US" sz="1350"/>
          </a:p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Log in, choose role/test account, explain think-aloud feedback.</a:t>
            </a:r>
            <a:endParaRPr lang="en-US" sz="1350"/>
          </a:p>
        </p:txBody>
      </p:sp>
      <p:cxnSp>
        <p:nvCxnSpPr>
          <p:cNvPr id="12" name="Timeline arrow"/>
          <p:cNvCxnSpPr/>
          <p:nvPr/>
        </p:nvCxnSpPr>
        <p:spPr>
          <a:xfrm>
            <a:off x="2871216" y="3154680"/>
            <a:ext cx="118872" cy="0"/>
          </a:xfrm>
          <a:prstGeom prst="line">
            <a:avLst/>
          </a:prstGeom>
          <a:ln w="19050">
            <a:solidFill>
              <a:srgbClr val="5D6B7A"/>
            </a:solidFill>
            <a:tailEnd type="triangle"/>
          </a:ln>
        </p:spPr>
      </p:cxnSp>
      <p:sp>
        <p:nvSpPr>
          <p:cNvPr id="14" name="Time pill"/>
          <p:cNvSpPr/>
          <p:nvPr/>
        </p:nvSpPr>
        <p:spPr>
          <a:xfrm>
            <a:off x="3008376" y="1508760"/>
            <a:ext cx="2212848" cy="411480"/>
          </a:xfrm>
          <a:prstGeom prst="roundRect">
            <a:avLst/>
          </a:prstGeom>
          <a:solidFill>
            <a:srgbClr val="33658A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450" b="1" dirty="0">
                <a:solidFill>
                  <a:srgbClr val="FFFFFF"/>
                </a:solidFill>
                <a:latin typeface="Aptos"/>
              </a:rPr>
              <a:t>3-8 min</a:t>
            </a:r>
            <a:endParaRPr lang="en-US" sz="1450"/>
          </a:p>
        </p:txBody>
      </p:sp>
      <p:sp>
        <p:nvSpPr>
          <p:cNvPr id="15" name="Task card"/>
          <p:cNvSpPr/>
          <p:nvPr/>
        </p:nvSpPr>
        <p:spPr>
          <a:xfrm>
            <a:off x="3008376" y="1947672"/>
            <a:ext cx="2212848" cy="2743200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D8CDBB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Create collection</a:t>
            </a:r>
            <a:endParaRPr lang="en-US" sz="1350"/>
          </a:p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Create a collection, add basic metadata, check navigation.</a:t>
            </a:r>
            <a:endParaRPr lang="en-US" sz="1350"/>
          </a:p>
        </p:txBody>
      </p:sp>
      <p:cxnSp>
        <p:nvCxnSpPr>
          <p:cNvPr id="16" name="Timeline arrow"/>
          <p:cNvCxnSpPr/>
          <p:nvPr/>
        </p:nvCxnSpPr>
        <p:spPr>
          <a:xfrm>
            <a:off x="5239512" y="3154680"/>
            <a:ext cx="118872" cy="0"/>
          </a:xfrm>
          <a:prstGeom prst="line">
            <a:avLst/>
          </a:prstGeom>
          <a:ln w="19050">
            <a:solidFill>
              <a:srgbClr val="5D6B7A"/>
            </a:solidFill>
            <a:tailEnd type="triangle"/>
          </a:ln>
        </p:spPr>
      </p:cxnSp>
      <p:sp>
        <p:nvSpPr>
          <p:cNvPr id="18" name="Time pill"/>
          <p:cNvSpPr/>
          <p:nvPr/>
        </p:nvSpPr>
        <p:spPr>
          <a:xfrm>
            <a:off x="5376672" y="1508760"/>
            <a:ext cx="2212848" cy="411480"/>
          </a:xfrm>
          <a:prstGeom prst="roundRect">
            <a:avLst/>
          </a:prstGeom>
          <a:solidFill>
            <a:srgbClr val="E4A11B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450" b="1" dirty="0">
                <a:solidFill>
                  <a:srgbClr val="FFFFFF"/>
                </a:solidFill>
                <a:latin typeface="Aptos"/>
              </a:rPr>
              <a:t>8-13 min</a:t>
            </a:r>
            <a:endParaRPr lang="en-US" sz="1450"/>
          </a:p>
        </p:txBody>
      </p:sp>
      <p:sp>
        <p:nvSpPr>
          <p:cNvPr id="19" name="Task card"/>
          <p:cNvSpPr/>
          <p:nvPr/>
        </p:nvSpPr>
        <p:spPr>
          <a:xfrm>
            <a:off x="5376672" y="1947672"/>
            <a:ext cx="2212848" cy="2743200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D8CDBB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Create edition</a:t>
            </a:r>
            <a:endParaRPr lang="en-US" sz="1350"/>
          </a:p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Add an edition, upload/attach assets or metadata, save draft.</a:t>
            </a:r>
            <a:endParaRPr lang="en-US" sz="1350"/>
          </a:p>
        </p:txBody>
      </p:sp>
      <p:cxnSp>
        <p:nvCxnSpPr>
          <p:cNvPr id="20" name="Timeline arrow"/>
          <p:cNvCxnSpPr/>
          <p:nvPr/>
        </p:nvCxnSpPr>
        <p:spPr>
          <a:xfrm>
            <a:off x="7607808" y="3154680"/>
            <a:ext cx="118872" cy="0"/>
          </a:xfrm>
          <a:prstGeom prst="line">
            <a:avLst/>
          </a:prstGeom>
          <a:ln w="19050">
            <a:solidFill>
              <a:srgbClr val="5D6B7A"/>
            </a:solidFill>
            <a:tailEnd type="triangle"/>
          </a:ln>
        </p:spPr>
      </p:cxnSp>
      <p:sp>
        <p:nvSpPr>
          <p:cNvPr id="22" name="Time pill"/>
          <p:cNvSpPr/>
          <p:nvPr/>
        </p:nvSpPr>
        <p:spPr>
          <a:xfrm>
            <a:off x="7744968" y="1508760"/>
            <a:ext cx="2212848" cy="411480"/>
          </a:xfrm>
          <a:prstGeom prst="roundRect">
            <a:avLst/>
          </a:prstGeom>
          <a:solidFill>
            <a:srgbClr val="C75B39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450" b="1" dirty="0">
                <a:solidFill>
                  <a:srgbClr val="FFFFFF"/>
                </a:solidFill>
                <a:latin typeface="Aptos"/>
              </a:rPr>
              <a:t>13-17 min</a:t>
            </a:r>
            <a:endParaRPr lang="en-US" sz="1450"/>
          </a:p>
        </p:txBody>
      </p:sp>
      <p:sp>
        <p:nvSpPr>
          <p:cNvPr id="23" name="Task card"/>
          <p:cNvSpPr/>
          <p:nvPr/>
        </p:nvSpPr>
        <p:spPr>
          <a:xfrm>
            <a:off x="7744968" y="1947672"/>
            <a:ext cx="2212848" cy="2743200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D8CDBB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Start review</a:t>
            </a:r>
            <a:endParaRPr lang="en-US" sz="1350"/>
          </a:p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Submit or move into review; inspect reviewer/editorial cues.</a:t>
            </a:r>
            <a:endParaRPr lang="en-US" sz="1350"/>
          </a:p>
        </p:txBody>
      </p:sp>
      <p:cxnSp>
        <p:nvCxnSpPr>
          <p:cNvPr id="24" name="Timeline arrow"/>
          <p:cNvCxnSpPr/>
          <p:nvPr/>
        </p:nvCxnSpPr>
        <p:spPr>
          <a:xfrm>
            <a:off x="9976104" y="3154680"/>
            <a:ext cx="118872" cy="0"/>
          </a:xfrm>
          <a:prstGeom prst="line">
            <a:avLst/>
          </a:prstGeom>
          <a:ln w="19050">
            <a:solidFill>
              <a:srgbClr val="5D6B7A"/>
            </a:solidFill>
            <a:tailEnd type="triangle"/>
          </a:ln>
        </p:spPr>
      </p:cxnSp>
      <p:sp>
        <p:nvSpPr>
          <p:cNvPr id="26" name="Time pill"/>
          <p:cNvSpPr/>
          <p:nvPr/>
        </p:nvSpPr>
        <p:spPr>
          <a:xfrm>
            <a:off x="10113264" y="1508760"/>
            <a:ext cx="2212848" cy="411480"/>
          </a:xfrm>
          <a:prstGeom prst="roundRect">
            <a:avLst/>
          </a:prstGeom>
          <a:solidFill>
            <a:srgbClr val="6A994E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450" b="1" dirty="0">
                <a:solidFill>
                  <a:srgbClr val="FFFFFF"/>
                </a:solidFill>
                <a:latin typeface="Aptos"/>
              </a:rPr>
              <a:t>17-20 min</a:t>
            </a:r>
            <a:endParaRPr lang="en-US" sz="1450"/>
          </a:p>
        </p:txBody>
      </p:sp>
      <p:sp>
        <p:nvSpPr>
          <p:cNvPr id="27" name="Task card"/>
          <p:cNvSpPr/>
          <p:nvPr/>
        </p:nvSpPr>
        <p:spPr>
          <a:xfrm>
            <a:off x="10113264" y="1947672"/>
            <a:ext cx="2212848" cy="2743200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D8CDBB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Debrief</a:t>
            </a:r>
            <a:endParaRPr lang="en-US" sz="1350"/>
          </a:p>
          <a:p>
            <a:pPr algn="l">
              <a:buNone/>
            </a:pPr>
            <a:r>
              <a:rPr lang="en-US" sz="1350" dirty="0">
                <a:solidFill>
                  <a:srgbClr val="17324D"/>
                </a:solidFill>
                <a:latin typeface="Aptos"/>
              </a:rPr>
              <a:t>What worked, what blocked you, what should be clearer?</a:t>
            </a:r>
            <a:endParaRPr lang="en-US" sz="1350"/>
          </a:p>
        </p:txBody>
      </p:sp>
      <p:sp>
        <p:nvSpPr>
          <p:cNvPr id="40" name="Capture panel"/>
          <p:cNvSpPr/>
          <p:nvPr/>
        </p:nvSpPr>
        <p:spPr>
          <a:xfrm>
            <a:off x="640080" y="4709160"/>
            <a:ext cx="10972800" cy="1280160"/>
          </a:xfrm>
          <a:prstGeom prst="roundRect">
            <a:avLst/>
          </a:prstGeom>
          <a:solidFill>
            <a:srgbClr val="EEF6F6"/>
          </a:solidFill>
          <a:ln w="12700">
            <a:solidFill>
              <a:srgbClr val="A9D5D5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550" dirty="0">
                <a:solidFill>
                  <a:srgbClr val="17324D"/>
                </a:solidFill>
                <a:latin typeface="Aptos"/>
              </a:rPr>
              <a:t>Capture during the session</a:t>
            </a:r>
            <a:endParaRPr lang="en-US" sz="1550"/>
          </a:p>
          <a:p>
            <a:pPr algn="l">
              <a:buChar char="•"/>
              <a:buFont typeface="Arial"/>
            </a:pPr>
            <a:r>
              <a:rPr lang="en-US" sz="1550" dirty="0">
                <a:solidFill>
                  <a:srgbClr val="17324D"/>
                </a:solidFill>
                <a:latin typeface="Aptos"/>
              </a:rPr>
              <a:t>Where users hesitate or ask for clarification</a:t>
            </a:r>
            <a:endParaRPr lang="en-US" sz="1550"/>
          </a:p>
          <a:p>
            <a:pPr algn="l">
              <a:buChar char="•"/>
              <a:buFont typeface="Arial"/>
            </a:pPr>
            <a:r>
              <a:rPr lang="en-US" sz="1550" dirty="0">
                <a:solidFill>
                  <a:srgbClr val="17324D"/>
                </a:solidFill>
                <a:latin typeface="Aptos"/>
              </a:rPr>
              <a:t>Missing affordances for editions, collections, and review</a:t>
            </a:r>
            <a:endParaRPr lang="en-US" sz="1550"/>
          </a:p>
          <a:p>
            <a:pPr algn="l">
              <a:buChar char="•"/>
              <a:buFont typeface="Arial"/>
            </a:pPr>
            <a:r>
              <a:rPr lang="en-US" sz="1550" dirty="0">
                <a:solidFill>
                  <a:srgbClr val="17324D"/>
                </a:solidFill>
                <a:latin typeface="Aptos"/>
              </a:rPr>
              <a:t>Exact words users use for labels/statuses</a:t>
            </a:r>
            <a:endParaRPr lang="en-US" sz="1550"/>
          </a:p>
          <a:p>
            <a:pPr algn="l">
              <a:buChar char="•"/>
              <a:buFont typeface="Arial"/>
            </a:pPr>
            <a:r>
              <a:rPr lang="en-US" sz="1550" dirty="0">
                <a:solidFill>
                  <a:srgbClr val="17324D"/>
                </a:solidFill>
                <a:latin typeface="Aptos"/>
              </a:rPr>
              <a:t>One improvement each user would prioritize</a:t>
            </a:r>
            <a:endParaRPr lang="en-US" sz="15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2000" dirty="0">
                <a:solidFill>
                  <a:srgbClr val="17324D"/>
                </a:solidFill>
                <a:latin typeface="Aptos"/>
              </a:rPr>
              <a:t/>
            </a:r>
            <a:endParaRPr lang="en-US" sz="2000"/>
          </a:p>
        </p:txBody>
      </p:sp>
      <p:sp>
        <p:nvSpPr>
          <p:cNvPr id="3" name="Title"/>
          <p:cNvSpPr txBox="1"/>
          <p:nvPr/>
        </p:nvSpPr>
        <p:spPr>
          <a:xfrm>
            <a:off x="502920" y="100584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  <a:latin typeface="Aptos"/>
              </a:rPr>
              <a:t>Current Defined Roles</a:t>
            </a:r>
            <a:endParaRPr lang="en-US" sz="2700"/>
          </a:p>
        </p:txBody>
      </p:sp>
      <p:sp>
        <p:nvSpPr>
          <p:cNvPr id="4" name="Source"/>
          <p:cNvSpPr txBox="1"/>
          <p:nvPr/>
        </p:nvSpPr>
        <p:spPr>
          <a:xfrm>
            <a:off x="8503920" y="14630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 lIns="120000" rIns="120000" tIns="60000" bIns="60000"/>
          <a:lstStyle/>
          <a:p>
            <a:pPr algn="r">
              <a:buNone/>
            </a:pPr>
            <a:r>
              <a:rPr lang="en-US" sz="1200" dirty="0">
                <a:solidFill>
                  <a:srgbClr val="EADFCF"/>
                </a:solidFill>
                <a:latin typeface="Aptos"/>
              </a:rPr>
              <a:t>Source: docs/ROLES.md</a:t>
            </a:r>
            <a:endParaRPr lang="en-US" sz="1200"/>
          </a:p>
        </p:txBody>
      </p:sp>
      <p:sp>
        <p:nvSpPr>
          <p:cNvPr id="5" name="Subtitle"/>
          <p:cNvSpPr txBox="1"/>
          <p:nvPr/>
        </p:nvSpPr>
        <p:spPr>
          <a:xfrm>
            <a:off x="640080" y="80467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550" dirty="0">
                <a:solidFill>
                  <a:srgbClr val="5D6B7A"/>
                </a:solidFill>
                <a:latin typeface="Aptos"/>
              </a:rPr>
              <a:t>Roles are layered: global access, collection-scoped collaboration, and edition-scoped workflow responsibilities.</a:t>
            </a:r>
            <a:endParaRPr lang="en-US" sz="1550"/>
          </a:p>
        </p:txBody>
      </p:sp>
      <p:sp>
        <p:nvSpPr>
          <p:cNvPr id="6" name="User"/>
          <p:cNvSpPr/>
          <p:nvPr/>
        </p:nvSpPr>
        <p:spPr>
          <a:xfrm>
            <a:off x="594360" y="2578608"/>
            <a:ext cx="1325880" cy="68580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800" b="1" dirty="0">
                <a:solidFill>
                  <a:srgbClr val="FFFFFF"/>
                </a:solidFill>
                <a:latin typeface="Aptos"/>
              </a:rPr>
              <a:t>User</a:t>
            </a:r>
            <a:endParaRPr lang="en-US" sz="1800"/>
          </a:p>
        </p:txBody>
      </p:sp>
      <p:sp>
        <p:nvSpPr>
          <p:cNvPr id="7" name="Collection"/>
          <p:cNvSpPr/>
          <p:nvPr/>
        </p:nvSpPr>
        <p:spPr>
          <a:xfrm>
            <a:off x="5212080" y="2578608"/>
            <a:ext cx="1554480" cy="685800"/>
          </a:xfrm>
          <a:prstGeom prst="roundRect">
            <a:avLst/>
          </a:prstGeom>
          <a:solidFill>
            <a:srgbClr val="116466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700" b="1" dirty="0">
                <a:solidFill>
                  <a:srgbClr val="FFFFFF"/>
                </a:solidFill>
                <a:latin typeface="Aptos"/>
              </a:rPr>
              <a:t>Collection</a:t>
            </a:r>
            <a:endParaRPr lang="en-US" sz="1700"/>
          </a:p>
        </p:txBody>
      </p:sp>
      <p:sp>
        <p:nvSpPr>
          <p:cNvPr id="8" name="Edition"/>
          <p:cNvSpPr/>
          <p:nvPr/>
        </p:nvSpPr>
        <p:spPr>
          <a:xfrm>
            <a:off x="10012680" y="2578608"/>
            <a:ext cx="1417320" cy="685800"/>
          </a:xfrm>
          <a:prstGeom prst="roundRect">
            <a:avLst/>
          </a:prstGeom>
          <a:solidFill>
            <a:srgbClr val="C75B39"/>
          </a:solidFill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750" b="1" dirty="0">
                <a:solidFill>
                  <a:srgbClr val="FFFFFF"/>
                </a:solidFill>
                <a:latin typeface="Aptos"/>
              </a:rPr>
              <a:t>Edition</a:t>
            </a:r>
            <a:endParaRPr lang="en-US" sz="1750"/>
          </a:p>
        </p:txBody>
      </p:sp>
      <p:cxnSp>
        <p:nvCxnSpPr>
          <p:cNvPr id="9" name="User to collection"/>
          <p:cNvCxnSpPr/>
          <p:nvPr/>
        </p:nvCxnSpPr>
        <p:spPr>
          <a:xfrm>
            <a:off x="1920240" y="2926080"/>
            <a:ext cx="3291840" cy="0"/>
          </a:xfrm>
          <a:prstGeom prst="line">
            <a:avLst/>
          </a:prstGeom>
          <a:ln w="19050">
            <a:solidFill>
              <a:srgbClr val="5D6B7A"/>
            </a:solidFill>
            <a:tailEnd type="triangle"/>
          </a:ln>
        </p:spPr>
      </p:cxnSp>
      <p:cxnSp>
        <p:nvCxnSpPr>
          <p:cNvPr id="10" name="Collection to edition"/>
          <p:cNvCxnSpPr/>
          <p:nvPr/>
        </p:nvCxnSpPr>
        <p:spPr>
          <a:xfrm>
            <a:off x="6766560" y="2926080"/>
            <a:ext cx="3246120" cy="0"/>
          </a:xfrm>
          <a:prstGeom prst="line">
            <a:avLst/>
          </a:prstGeom>
          <a:ln w="19050">
            <a:solidFill>
              <a:srgbClr val="5D6B7A"/>
            </a:solidFill>
            <a:tailEnd type="triangle"/>
          </a:ln>
        </p:spPr>
      </p:cxnSp>
      <p:sp>
        <p:nvSpPr>
          <p:cNvPr id="11" name="Global Roles"/>
          <p:cNvSpPr/>
          <p:nvPr/>
        </p:nvSpPr>
        <p:spPr>
          <a:xfrm>
            <a:off x="594360" y="1417320"/>
            <a:ext cx="3063240" cy="438912"/>
          </a:xfrm>
          <a:prstGeom prst="roundRect">
            <a:avLst/>
          </a:prstGeom>
          <a:solidFill>
            <a:srgbClr val="DDEBEF"/>
          </a:solidFill>
          <a:ln w="12700">
            <a:solidFill>
              <a:srgbClr val="A7C7D2"/>
            </a:solidFill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300" b="1" dirty="0">
                <a:solidFill>
                  <a:srgbClr val="17324D"/>
                </a:solidFill>
                <a:latin typeface="Aptos"/>
              </a:rPr>
              <a:t>Global roles / users.role</a:t>
            </a:r>
            <a:endParaRPr lang="en-US" sz="1300"/>
          </a:p>
        </p:txBody>
      </p:sp>
      <p:sp>
        <p:nvSpPr>
          <p:cNvPr id="12" name="Admin"/>
          <p:cNvSpPr/>
          <p:nvPr/>
        </p:nvSpPr>
        <p:spPr>
          <a:xfrm>
            <a:off x="594360" y="1920240"/>
            <a:ext cx="3063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DD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150" dirty="0">
                <a:solidFill>
                  <a:srgbClr val="17324D"/>
                </a:solidFill>
                <a:latin typeface="Aptos"/>
              </a:rPr>
              <a:t>Admin: full system access</a:t>
            </a:r>
            <a:endParaRPr lang="en-US" sz="1150"/>
          </a:p>
        </p:txBody>
      </p:sp>
      <p:sp>
        <p:nvSpPr>
          <p:cNvPr id="13" name="Editorial Board"/>
          <p:cNvSpPr/>
          <p:nvPr/>
        </p:nvSpPr>
        <p:spPr>
          <a:xfrm>
            <a:off x="594360" y="3657600"/>
            <a:ext cx="3063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DD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050" dirty="0">
                <a:solidFill>
                  <a:srgbClr val="17324D"/>
                </a:solidFill>
                <a:latin typeface="Aptos"/>
              </a:rPr>
              <a:t>Editorial Board: reviews submitted editions across collections</a:t>
            </a:r>
            <a:endParaRPr lang="en-US" sz="1050"/>
          </a:p>
        </p:txBody>
      </p:sp>
      <p:sp>
        <p:nvSpPr>
          <p:cNvPr id="14" name="Viewer Global"/>
          <p:cNvSpPr/>
          <p:nvPr/>
        </p:nvSpPr>
        <p:spPr>
          <a:xfrm>
            <a:off x="594360" y="4251960"/>
            <a:ext cx="3063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DD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100" dirty="0">
                <a:solidFill>
                  <a:srgbClr val="17324D"/>
                </a:solidFill>
                <a:latin typeface="Aptos"/>
              </a:rPr>
              <a:t>Viewer: browses published content</a:t>
            </a:r>
            <a:endParaRPr lang="en-US" sz="1100"/>
          </a:p>
        </p:txBody>
      </p:sp>
      <p:sp>
        <p:nvSpPr>
          <p:cNvPr id="20" name="Collection Roles"/>
          <p:cNvSpPr/>
          <p:nvPr/>
        </p:nvSpPr>
        <p:spPr>
          <a:xfrm>
            <a:off x="4526280" y="1417320"/>
            <a:ext cx="3063240" cy="438912"/>
          </a:xfrm>
          <a:prstGeom prst="roundRect">
            <a:avLst/>
          </a:prstGeom>
          <a:solidFill>
            <a:srgbClr val="E5F4F0"/>
          </a:solidFill>
          <a:ln w="12700">
            <a:solidFill>
              <a:srgbClr val="AED8CD"/>
            </a:solidFill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220" b="1" dirty="0">
                <a:solidFill>
                  <a:srgbClr val="17324D"/>
                </a:solidFill>
                <a:latin typeface="Aptos"/>
              </a:rPr>
              <a:t>Collection roles / collectionUsers.role</a:t>
            </a:r>
            <a:endParaRPr lang="en-US" sz="1220"/>
          </a:p>
        </p:txBody>
      </p:sp>
      <p:sp>
        <p:nvSpPr>
          <p:cNvPr id="21" name="Owner"/>
          <p:cNvSpPr/>
          <p:nvPr/>
        </p:nvSpPr>
        <p:spPr>
          <a:xfrm>
            <a:off x="4526280" y="1920240"/>
            <a:ext cx="30632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ED5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030" dirty="0">
                <a:solidFill>
                  <a:srgbClr val="17324D"/>
                </a:solidFill>
                <a:latin typeface="Aptos"/>
              </a:rPr>
              <a:t>Collection Owner: controls collection, editions, users</a:t>
            </a:r>
            <a:endParaRPr lang="en-US" sz="1030"/>
          </a:p>
        </p:txBody>
      </p:sp>
      <p:sp>
        <p:nvSpPr>
          <p:cNvPr id="22" name="Editor"/>
          <p:cNvSpPr/>
          <p:nvPr/>
        </p:nvSpPr>
        <p:spPr>
          <a:xfrm>
            <a:off x="4526280" y="3657600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ED5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050" dirty="0">
                <a:solidFill>
                  <a:srgbClr val="17324D"/>
                </a:solidFill>
                <a:latin typeface="Aptos"/>
              </a:rPr>
              <a:t>Editor: edits metadata and manages editions</a:t>
            </a:r>
            <a:endParaRPr lang="en-US" sz="1050"/>
          </a:p>
        </p:txBody>
      </p:sp>
      <p:sp>
        <p:nvSpPr>
          <p:cNvPr id="23" name="Viewer Collection"/>
          <p:cNvSpPr/>
          <p:nvPr/>
        </p:nvSpPr>
        <p:spPr>
          <a:xfrm>
            <a:off x="4526280" y="4224528"/>
            <a:ext cx="30632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ED5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050" dirty="0">
                <a:solidFill>
                  <a:srgbClr val="17324D"/>
                </a:solidFill>
                <a:latin typeface="Aptos"/>
              </a:rPr>
              <a:t>Viewer: sees unpublished content in collection</a:t>
            </a:r>
            <a:endParaRPr lang="en-US" sz="1050"/>
          </a:p>
        </p:txBody>
      </p:sp>
      <p:sp>
        <p:nvSpPr>
          <p:cNvPr id="30" name="Edition Roles"/>
          <p:cNvSpPr/>
          <p:nvPr/>
        </p:nvSpPr>
        <p:spPr>
          <a:xfrm>
            <a:off x="8458200" y="1417320"/>
            <a:ext cx="3063240" cy="438912"/>
          </a:xfrm>
          <a:prstGeom prst="roundRect">
            <a:avLst/>
          </a:prstGeom>
          <a:solidFill>
            <a:srgbClr val="F8E9DF"/>
          </a:solidFill>
          <a:ln w="12700">
            <a:solidFill>
              <a:srgbClr val="E7BFA8"/>
            </a:solidFill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250" b="1" dirty="0">
                <a:solidFill>
                  <a:srgbClr val="17324D"/>
                </a:solidFill>
                <a:latin typeface="Aptos"/>
              </a:rPr>
              <a:t>Edition roles / editionUsers.role</a:t>
            </a:r>
            <a:endParaRPr lang="en-US" sz="1250"/>
          </a:p>
        </p:txBody>
      </p:sp>
      <p:sp>
        <p:nvSpPr>
          <p:cNvPr id="31" name="Author"/>
          <p:cNvSpPr/>
          <p:nvPr/>
        </p:nvSpPr>
        <p:spPr>
          <a:xfrm>
            <a:off x="8458200" y="1920240"/>
            <a:ext cx="30632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BFA8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050" dirty="0">
                <a:solidFill>
                  <a:srgbClr val="17324D"/>
                </a:solidFill>
                <a:latin typeface="Aptos"/>
              </a:rPr>
              <a:t>Author: edits edition and submits for review</a:t>
            </a:r>
            <a:endParaRPr lang="en-US" sz="1050"/>
          </a:p>
        </p:txBody>
      </p:sp>
      <p:sp>
        <p:nvSpPr>
          <p:cNvPr id="32" name="Collaborator"/>
          <p:cNvSpPr/>
          <p:nvPr/>
        </p:nvSpPr>
        <p:spPr>
          <a:xfrm>
            <a:off x="8458200" y="3657600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BFA8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100" dirty="0">
                <a:solidFill>
                  <a:srgbClr val="17324D"/>
                </a:solidFill>
                <a:latin typeface="Aptos"/>
              </a:rPr>
              <a:t>Collaborator: edits content/assets</a:t>
            </a:r>
            <a:endParaRPr lang="en-US" sz="1100"/>
          </a:p>
        </p:txBody>
      </p:sp>
      <p:sp>
        <p:nvSpPr>
          <p:cNvPr id="33" name="Reviewer"/>
          <p:cNvSpPr/>
          <p:nvPr/>
        </p:nvSpPr>
        <p:spPr>
          <a:xfrm>
            <a:off x="8458200" y="4224528"/>
            <a:ext cx="30632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BFA8"/>
            </a:solidFill>
          </a:ln>
        </p:spPr>
        <p:txBody>
          <a:bodyPr wrap="square" anchor="mid" lIns="120000" rIns="120000" tIns="60000" bIns="60000"/>
          <a:lstStyle/>
          <a:p>
            <a:pPr algn="l">
              <a:buNone/>
            </a:pPr>
            <a:r>
              <a:rPr lang="en-US" sz="1020" dirty="0">
                <a:solidFill>
                  <a:srgbClr val="17324D"/>
                </a:solidFill>
                <a:latin typeface="Aptos"/>
              </a:rPr>
              <a:t>Reviewer: annotates, approves, or requests changes</a:t>
            </a:r>
            <a:endParaRPr lang="en-US" sz="1020"/>
          </a:p>
        </p:txBody>
      </p:sp>
      <p:sp>
        <p:nvSpPr>
          <p:cNvPr id="40" name="Workflow strip"/>
          <p:cNvSpPr/>
          <p:nvPr/>
        </p:nvSpPr>
        <p:spPr>
          <a:xfrm>
            <a:off x="685800" y="5138928"/>
            <a:ext cx="10835640" cy="777240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E5C36D"/>
            </a:solidFill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250" dirty="0">
                <a:solidFill>
                  <a:srgbClr val="17324D"/>
                </a:solidFill>
                <a:latin typeface="Aptos"/>
              </a:rPr>
              <a:t>Workflow handoff: Author / Collection Owner / Admin submit draft → Editorial Board / Reviewer / Admin review → Collection Owner / Admin publish final review.</a:t>
            </a:r>
            <a:endParaRPr lang="en-US" sz="1250"/>
          </a:p>
        </p:txBody>
      </p:sp>
      <p:sp>
        <p:nvSpPr>
          <p:cNvPr id="41" name="Footer note"/>
          <p:cNvSpPr txBox="1"/>
          <p:nvPr/>
        </p:nvSpPr>
        <p:spPr>
          <a:xfrm>
            <a:off x="685800" y="605332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 lIns="120000" rIns="120000" tIns="60000" bIns="60000"/>
          <a:lstStyle/>
          <a:p>
            <a:pPr algn="c">
              <a:buNone/>
            </a:pPr>
            <a:r>
              <a:rPr lang="en-US" sz="1150" dirty="0">
                <a:solidFill>
                  <a:srgbClr val="5D6B7A"/>
                </a:solidFill>
                <a:latin typeface="Aptos"/>
              </a:rPr>
              <a:t>Use this diagram to clarify which test account should perform each feedback-session task.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re3D">
  <a:themeElements>
    <a:clrScheme name="Pure3D">
      <a:dk1>
        <a:srgbClr val="17324D"/>
      </a:dk1>
      <a:lt1>
        <a:srgbClr val="F7F3EA"/>
      </a:lt1>
      <a:dk2>
        <a:srgbClr val="116466"/>
      </a:dk2>
      <a:lt2>
        <a:srgbClr val="FFF9ED"/>
      </a:lt2>
      <a:accent1>
        <a:srgbClr val="1F8A89"/>
      </a:accent1>
      <a:accent2>
        <a:srgbClr val="E4A11B"/>
      </a:accent2>
      <a:accent3>
        <a:srgbClr val="C75B39"/>
      </a:accent3>
      <a:accent4>
        <a:srgbClr val="33658A"/>
      </a:accent4>
      <a:accent5>
        <a:srgbClr val="6A994E"/>
      </a:accent5>
      <a:accent6>
        <a:srgbClr val="77529E"/>
      </a:accent6>
      <a:hlink>
        <a:srgbClr val="33658A"/>
      </a:hlink>
      <a:folHlink>
        <a:srgbClr val="77529E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Pure3D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OpenCode</Application>
  <PresentationFormat>Widescreen</PresentationFormat>
  <Slides>2</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Pure3D Feedback Session and Roles</dc:title>
  <dc:creator>OpenCode</dc:creator>
  <cp:lastModifiedBy>OpenCode</cp:lastModifiedBy>
  <dcterms:created xsi:type="dcterms:W3CDTF">2026-06-22T00:00:00Z</dcterms:created>
  <dcterms:modified xsi:type="dcterms:W3CDTF">2026-06-22T00:00:00Z</dcterms:modified>
</cp:coreProperties>
</file>